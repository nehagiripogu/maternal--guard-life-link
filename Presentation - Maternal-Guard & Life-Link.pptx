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Clear Sans" panose="020B0604020202020204" charset="0"/>
      <p:regular r:id="rId7"/>
    </p:embeddedFont>
    <p:embeddedFont>
      <p:font typeface="Clear Sans Bold" panose="020B0604020202020204" charset="0"/>
      <p:regular r:id="rId8"/>
    </p:embeddedFont>
    <p:embeddedFont>
      <p:font typeface="Tenor Sans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1485900"/>
            <a:ext cx="9784896" cy="8142708"/>
            <a:chOff x="0" y="190500"/>
            <a:chExt cx="13046528" cy="10856942"/>
          </a:xfrm>
        </p:grpSpPr>
        <p:sp>
          <p:nvSpPr>
            <p:cNvPr id="3" name="TextBox 3"/>
            <p:cNvSpPr txBox="1"/>
            <p:nvPr/>
          </p:nvSpPr>
          <p:spPr>
            <a:xfrm>
              <a:off x="0" y="190500"/>
              <a:ext cx="13017500" cy="372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500"/>
                </a:lnSpc>
              </a:pPr>
              <a:r>
                <a:rPr lang="en-US" sz="10500" spc="-210" dirty="0">
                  <a:solidFill>
                    <a:srgbClr val="A53A13"/>
                  </a:solidFill>
                  <a:latin typeface="Tenor Sans"/>
                  <a:ea typeface="Tenor Sans"/>
                  <a:cs typeface="Tenor Sans"/>
                  <a:sym typeface="Tenor Sans"/>
                </a:rPr>
                <a:t>Maternal-Guard &amp; Life-Link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028" y="6489699"/>
              <a:ext cx="13017500" cy="45577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 b="1" u="sng" dirty="0">
                  <a:solidFill>
                    <a:srgbClr val="A53A1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Team</a:t>
              </a:r>
              <a:r>
                <a:rPr lang="en-US" sz="3200" dirty="0">
                  <a:solidFill>
                    <a:srgbClr val="A53A1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- TECH DIVAS</a:t>
              </a:r>
            </a:p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 b="1" u="sng" dirty="0">
                  <a:solidFill>
                    <a:srgbClr val="A53A1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Team members :</a:t>
              </a:r>
            </a:p>
            <a:p>
              <a:pPr marL="457200" lvl="0" indent="-457200" algn="l">
                <a:lnSpc>
                  <a:spcPts val="448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3200" dirty="0" err="1">
                  <a:solidFill>
                    <a:srgbClr val="A53A1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Kanchugantala</a:t>
              </a:r>
              <a:r>
                <a:rPr lang="en-US" sz="3200" dirty="0">
                  <a:solidFill>
                    <a:srgbClr val="A53A1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Harshitha [Team lead]</a:t>
              </a:r>
            </a:p>
            <a:p>
              <a:pPr marL="457200" lvl="0" indent="-457200" algn="l">
                <a:lnSpc>
                  <a:spcPts val="448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3200" dirty="0" err="1">
                  <a:solidFill>
                    <a:srgbClr val="A53A1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Giripogu</a:t>
              </a:r>
              <a:r>
                <a:rPr lang="en-US" sz="3200" dirty="0">
                  <a:solidFill>
                    <a:srgbClr val="A53A1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Neha</a:t>
              </a:r>
            </a:p>
            <a:p>
              <a:pPr marL="457200" lvl="0" indent="-457200" algn="l">
                <a:lnSpc>
                  <a:spcPts val="448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3200" dirty="0">
                  <a:solidFill>
                    <a:srgbClr val="A53A1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Gokaraju Deekshitha</a:t>
              </a:r>
            </a:p>
            <a:p>
              <a:pPr marL="457200" lvl="0" indent="-457200" algn="l">
                <a:lnSpc>
                  <a:spcPts val="448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3200" dirty="0">
                  <a:solidFill>
                    <a:srgbClr val="A53A1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Kodela Manasa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8774635" y="7396104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1562100"/>
            <a:ext cx="11109088" cy="5082931"/>
            <a:chOff x="0" y="0"/>
            <a:chExt cx="14812117" cy="6777242"/>
          </a:xfrm>
        </p:grpSpPr>
        <p:sp>
          <p:nvSpPr>
            <p:cNvPr id="5" name="TextBox 5"/>
            <p:cNvSpPr txBox="1"/>
            <p:nvPr/>
          </p:nvSpPr>
          <p:spPr>
            <a:xfrm>
              <a:off x="0" y="3602739"/>
              <a:ext cx="14812117" cy="6445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A53A13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FROM REACTIVE TO PROACTIVE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915937"/>
              <a:ext cx="14812117" cy="1861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75"/>
                </a:lnSpc>
                <a:spcBef>
                  <a:spcPct val="0"/>
                </a:spcBef>
              </a:pPr>
              <a:r>
                <a:rPr lang="en-US" sz="2696">
                  <a:solidFill>
                    <a:srgbClr val="A53A1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Maternal mortality remains alarmingly high in rural areas, driven by delayed risk detection and critical conditions such as postpartum hemorrhage.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4812117" cy="309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170"/>
                </a:lnSpc>
              </a:pPr>
              <a:r>
                <a:rPr lang="en-US" sz="7642" spc="-152">
                  <a:solidFill>
                    <a:srgbClr val="A53A13"/>
                  </a:solidFill>
                  <a:latin typeface="Tenor Sans"/>
                  <a:ea typeface="Tenor Sans"/>
                  <a:cs typeface="Tenor Sans"/>
                  <a:sym typeface="Tenor Sans"/>
                </a:rPr>
                <a:t>Addressing Maternal Health Challenges Today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05429" y="3640854"/>
            <a:ext cx="8806040" cy="5825403"/>
          </a:xfrm>
          <a:custGeom>
            <a:avLst/>
            <a:gdLst/>
            <a:ahLst/>
            <a:cxnLst/>
            <a:rect l="l" t="t" r="r" b="b"/>
            <a:pathLst>
              <a:path w="8806040" h="5825403">
                <a:moveTo>
                  <a:pt x="0" y="0"/>
                </a:moveTo>
                <a:lnTo>
                  <a:pt x="8806040" y="0"/>
                </a:lnTo>
                <a:lnTo>
                  <a:pt x="8806040" y="5825404"/>
                </a:lnTo>
                <a:lnTo>
                  <a:pt x="0" y="582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7" b="-35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10376" y="1156887"/>
            <a:ext cx="16190106" cy="3680632"/>
            <a:chOff x="0" y="0"/>
            <a:chExt cx="21586808" cy="4907510"/>
          </a:xfrm>
        </p:grpSpPr>
        <p:sp>
          <p:nvSpPr>
            <p:cNvPr id="4" name="TextBox 4"/>
            <p:cNvSpPr txBox="1"/>
            <p:nvPr/>
          </p:nvSpPr>
          <p:spPr>
            <a:xfrm>
              <a:off x="0" y="4231446"/>
              <a:ext cx="20347668" cy="6760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39"/>
                </a:lnSpc>
                <a:spcBef>
                  <a:spcPct val="0"/>
                </a:spcBef>
              </a:pPr>
              <a:r>
                <a:rPr lang="en-US" sz="3099" b="1">
                  <a:solidFill>
                    <a:srgbClr val="A53A13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HIGH-RISK DETECTION ACCURACY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39140" y="4089721"/>
              <a:ext cx="20347668" cy="8177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175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97308" y="0"/>
              <a:ext cx="20347668" cy="3124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290"/>
                </a:lnSpc>
              </a:pPr>
              <a:r>
                <a:rPr lang="en-US" sz="7742" spc="-154">
                  <a:solidFill>
                    <a:srgbClr val="A53A13"/>
                  </a:solidFill>
                  <a:latin typeface="Tenor Sans"/>
                  <a:ea typeface="Tenor Sans"/>
                  <a:cs typeface="Tenor Sans"/>
                  <a:sym typeface="Tenor Sans"/>
                </a:rPr>
                <a:t>OUR AI MODEL FOR MATERNAL RISK PREDICTION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10376" y="5239640"/>
            <a:ext cx="7441349" cy="5187452"/>
            <a:chOff x="0" y="0"/>
            <a:chExt cx="9921799" cy="6916602"/>
          </a:xfrm>
        </p:grpSpPr>
        <p:sp>
          <p:nvSpPr>
            <p:cNvPr id="8" name="TextBox 8"/>
            <p:cNvSpPr txBox="1"/>
            <p:nvPr/>
          </p:nvSpPr>
          <p:spPr>
            <a:xfrm>
              <a:off x="0" y="4773127"/>
              <a:ext cx="9921799" cy="6760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3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6098814"/>
              <a:ext cx="9921799" cy="8177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175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9921799" cy="4416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 spc="-70">
                  <a:solidFill>
                    <a:srgbClr val="A53A13"/>
                  </a:solidFill>
                  <a:latin typeface="Tenor Sans"/>
                  <a:ea typeface="Tenor Sans"/>
                  <a:cs typeface="Tenor Sans"/>
                  <a:sym typeface="Tenor Sans"/>
                </a:rPr>
                <a:t>Our advanced AI-driven model uses vital sign validation and random forest classification to accurately predict maternal risks in real-time.</a:t>
              </a:r>
            </a:p>
            <a:p>
              <a:pPr marL="0" lvl="0" indent="0" algn="l">
                <a:lnSpc>
                  <a:spcPts val="9290"/>
                </a:lnSpc>
              </a:pPr>
              <a:endParaRPr lang="en-US" sz="3500" spc="-70">
                <a:solidFill>
                  <a:srgbClr val="A53A13"/>
                </a:solidFill>
                <a:latin typeface="Tenor Sans"/>
                <a:ea typeface="Tenor Sans"/>
                <a:cs typeface="Tenor Sans"/>
                <a:sym typeface="Tenor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1562100"/>
            <a:ext cx="10468153" cy="6026541"/>
            <a:chOff x="0" y="0"/>
            <a:chExt cx="13957537" cy="8035388"/>
          </a:xfrm>
        </p:grpSpPr>
        <p:sp>
          <p:nvSpPr>
            <p:cNvPr id="3" name="TextBox 3"/>
            <p:cNvSpPr txBox="1"/>
            <p:nvPr/>
          </p:nvSpPr>
          <p:spPr>
            <a:xfrm>
              <a:off x="0" y="5028314"/>
              <a:ext cx="13957537" cy="6227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A53A13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ONE-TAP HEMORRHAGE ALERT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319710"/>
              <a:ext cx="13957537" cy="1715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5"/>
                </a:lnSpc>
                <a:spcBef>
                  <a:spcPct val="0"/>
                </a:spcBef>
              </a:pPr>
              <a:r>
                <a:rPr lang="en-US" sz="2496">
                  <a:solidFill>
                    <a:srgbClr val="A53A1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Our emergency donor system uses real-time risk detection to dispatch compatible donors, ensuring rapid response during critical maternal health situations.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13957537" cy="454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930"/>
                </a:lnSpc>
              </a:pPr>
              <a:r>
                <a:rPr lang="en-US" sz="7442" spc="-148">
                  <a:solidFill>
                    <a:srgbClr val="A53A13"/>
                  </a:solidFill>
                  <a:latin typeface="Tenor Sans"/>
                  <a:ea typeface="Tenor Sans"/>
                  <a:cs typeface="Tenor Sans"/>
                  <a:sym typeface="Tenor Sans"/>
                </a:rPr>
                <a:t>Life-Link Emergency Donor Network Overview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2062575" y="0"/>
            <a:ext cx="6225425" cy="10287000"/>
          </a:xfrm>
          <a:custGeom>
            <a:avLst/>
            <a:gdLst/>
            <a:ahLst/>
            <a:cxnLst/>
            <a:rect l="l" t="t" r="r" b="b"/>
            <a:pathLst>
              <a:path w="6225425" h="10287000">
                <a:moveTo>
                  <a:pt x="0" y="0"/>
                </a:moveTo>
                <a:lnTo>
                  <a:pt x="6225425" y="0"/>
                </a:lnTo>
                <a:lnTo>
                  <a:pt x="62254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90" t="-3684" r="-8057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1562100"/>
            <a:ext cx="10916807" cy="4526036"/>
            <a:chOff x="0" y="0"/>
            <a:chExt cx="14555743" cy="6034715"/>
          </a:xfrm>
        </p:grpSpPr>
        <p:sp>
          <p:nvSpPr>
            <p:cNvPr id="5" name="TextBox 5"/>
            <p:cNvSpPr txBox="1"/>
            <p:nvPr/>
          </p:nvSpPr>
          <p:spPr>
            <a:xfrm>
              <a:off x="0" y="3542414"/>
              <a:ext cx="14555743" cy="6447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59"/>
                </a:lnSpc>
                <a:spcBef>
                  <a:spcPct val="0"/>
                </a:spcBef>
              </a:pPr>
              <a:r>
                <a:rPr lang="en-US" sz="2899" b="1">
                  <a:solidFill>
                    <a:srgbClr val="A53A13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TRUST AND PRIVACY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855824"/>
              <a:ext cx="14555743" cy="11788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5"/>
                </a:lnSpc>
                <a:spcBef>
                  <a:spcPct val="0"/>
                </a:spcBef>
              </a:pPr>
              <a:r>
                <a:rPr lang="en-US" sz="2596">
                  <a:solidFill>
                    <a:srgbClr val="A53A1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We prioritize </a:t>
              </a:r>
              <a:r>
                <a:rPr lang="en-US" sz="2596" b="1">
                  <a:solidFill>
                    <a:srgbClr val="A53A13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data anonymization</a:t>
              </a:r>
              <a:r>
                <a:rPr lang="en-US" sz="2596">
                  <a:solidFill>
                    <a:srgbClr val="A53A1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and donor privacy, ensuring consent toggles protect identities while reducing bias and false alerts.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4555743" cy="3057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050"/>
                </a:lnSpc>
              </a:pPr>
              <a:r>
                <a:rPr lang="en-US" sz="7542" spc="-150">
                  <a:solidFill>
                    <a:srgbClr val="A53A13"/>
                  </a:solidFill>
                  <a:latin typeface="Tenor Sans"/>
                  <a:ea typeface="Tenor Sans"/>
                  <a:cs typeface="Tenor Sans"/>
                  <a:sym typeface="Tenor Sans"/>
                </a:rPr>
                <a:t>Security and Ethical Considerations Matter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141</Words>
  <Application>Microsoft Office PowerPoint</Application>
  <PresentationFormat>Custom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Tenor Sans</vt:lpstr>
      <vt:lpstr>Clear Sans Bold</vt:lpstr>
      <vt:lpstr>Clear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Maternal-Guard &amp; Life-Link</dc:title>
  <dc:creator>lakshmi kakarla</dc:creator>
  <dc:description>Presentation - Maternal-Guard &amp; Life-Link</dc:description>
  <cp:lastModifiedBy>lakshmi kakarla</cp:lastModifiedBy>
  <cp:revision>2</cp:revision>
  <dcterms:created xsi:type="dcterms:W3CDTF">2006-08-16T00:00:00Z</dcterms:created>
  <dcterms:modified xsi:type="dcterms:W3CDTF">2026-02-28T11:30:27Z</dcterms:modified>
  <dc:identifier>DAHCmmKEZo8</dc:identifier>
</cp:coreProperties>
</file>